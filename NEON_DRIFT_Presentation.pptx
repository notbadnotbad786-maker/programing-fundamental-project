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4255" y="-1645920"/>
            <a:ext cx="3840480" cy="3840480"/>
          </a:xfrm>
          <a:prstGeom prst="ellipse">
            <a:avLst/>
          </a:prstGeom>
          <a:solidFill>
            <a:srgbClr val="FF2FD0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846320"/>
            <a:ext cx="3291840" cy="3291840"/>
          </a:xfrm>
          <a:prstGeom prst="ellipse">
            <a:avLst/>
          </a:prstGeom>
          <a:solidFill>
            <a:srgbClr val="00E5FF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394960" y="914400"/>
            <a:ext cx="1417320" cy="1417320"/>
          </a:xfrm>
          <a:prstGeom prst="ellipse">
            <a:avLst/>
          </a:prstGeom>
          <a:solidFill>
            <a:srgbClr val="1F1140"/>
          </a:solidFill>
          <a:ln w="19050">
            <a:solidFill>
              <a:srgbClr val="FF2F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94960" y="914400"/>
            <a:ext cx="14173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🏎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2606040"/>
            <a:ext cx="1072865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NEON DRIFT</a:t>
            </a:r>
            <a:endParaRPr lang="en-US" sz="6000" dirty="0"/>
          </a:p>
        </p:txBody>
      </p:sp>
      <p:sp>
        <p:nvSpPr>
          <p:cNvPr id="7" name="Shape 5"/>
          <p:cNvSpPr/>
          <p:nvPr/>
        </p:nvSpPr>
        <p:spPr>
          <a:xfrm>
            <a:off x="4541368" y="3611880"/>
            <a:ext cx="3108960" cy="45720"/>
          </a:xfrm>
          <a:prstGeom prst="rect">
            <a:avLst/>
          </a:prstGeom>
          <a:solidFill>
            <a:srgbClr val="FF2FD0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794760"/>
            <a:ext cx="107286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Mobile-Controlled 3D Web Racing Game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31520" y="5989320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spc="100" kern="0" dirty="0">
                <a:solidFill>
                  <a:srgbClr val="A79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 ·  FastAPI WebSocket  ·  Three.js  ·  Gyroscope Controller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4255" y="-1645920"/>
            <a:ext cx="3840480" cy="3840480"/>
          </a:xfrm>
          <a:prstGeom prst="ellipse">
            <a:avLst/>
          </a:prstGeom>
          <a:solidFill>
            <a:srgbClr val="FF2FD0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846320"/>
            <a:ext cx="3291840" cy="3291840"/>
          </a:xfrm>
          <a:prstGeom prst="ellipse">
            <a:avLst/>
          </a:prstGeom>
          <a:solidFill>
            <a:srgbClr val="00E5FF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457200"/>
            <a:ext cx="2468880" cy="347472"/>
          </a:xfrm>
          <a:prstGeom prst="roundRect">
            <a:avLst>
              <a:gd name="adj" fmla="val 50000"/>
            </a:avLst>
          </a:prstGeom>
          <a:solidFill>
            <a:srgbClr val="1F1140"/>
          </a:solidFill>
          <a:ln w="12700">
            <a:solidFill>
              <a:srgbClr val="FF2F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5720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96012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this project?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02920" y="16002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9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racing game you drive from your laptop screen — but steer with your phone, like a real steering wheel.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260604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170C2C"/>
          </a:solidFill>
          <a:ln w="12700">
            <a:solidFill>
              <a:srgbClr val="1F11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60220" y="3017520"/>
            <a:ext cx="1005840" cy="1005840"/>
          </a:xfrm>
          <a:prstGeom prst="ellipse">
            <a:avLst/>
          </a:prstGeom>
          <a:solidFill>
            <a:srgbClr val="1F1140"/>
          </a:solidFill>
          <a:ln w="15875">
            <a:solidFill>
              <a:srgbClr val="FF2F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60220" y="301752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📱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731520" y="420624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Steer With Your Phone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77240" y="4754880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79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Tilt the phone left/right; the built-in gyroscope reads the angle.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43400" y="260604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170C2C"/>
          </a:solidFill>
          <a:ln w="12700">
            <a:solidFill>
              <a:srgbClr val="1F11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00700" y="3017520"/>
            <a:ext cx="1005840" cy="1005840"/>
          </a:xfrm>
          <a:prstGeom prst="ellipse">
            <a:avLst/>
          </a:prstGeom>
          <a:solidFill>
            <a:srgbClr val="1F1140"/>
          </a:solidFill>
          <a:ln w="15875">
            <a:solidFill>
              <a:srgbClr val="FF2F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00700" y="301752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💻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4572000" y="420624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It On Your Laptop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617720" y="4754880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79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cyberpunk 3D car races down a neon-lit track in the browser.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183880" y="260604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170C2C"/>
          </a:solidFill>
          <a:ln w="12700">
            <a:solidFill>
              <a:srgbClr val="1F114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441180" y="3017520"/>
            <a:ext cx="1005840" cy="1005840"/>
          </a:xfrm>
          <a:prstGeom prst="ellipse">
            <a:avLst/>
          </a:prstGeom>
          <a:solidFill>
            <a:srgbClr val="1F1140"/>
          </a:solidFill>
          <a:ln w="15875">
            <a:solidFill>
              <a:srgbClr val="FF2F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441180" y="301752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⚡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8412480" y="420624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Real-Time, No Lag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458200" y="4754880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79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Python WebSocket bridge relays every tilt instantly, ~25 times a second.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4255" y="-1645920"/>
            <a:ext cx="3840480" cy="3840480"/>
          </a:xfrm>
          <a:prstGeom prst="ellipse">
            <a:avLst/>
          </a:prstGeom>
          <a:solidFill>
            <a:srgbClr val="FF2FD0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846320"/>
            <a:ext cx="3291840" cy="3291840"/>
          </a:xfrm>
          <a:prstGeom prst="ellipse">
            <a:avLst/>
          </a:prstGeom>
          <a:solidFill>
            <a:srgbClr val="00E5FF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457200"/>
            <a:ext cx="2468880" cy="347472"/>
          </a:xfrm>
          <a:prstGeom prst="roundRect">
            <a:avLst>
              <a:gd name="adj" fmla="val 50000"/>
            </a:avLst>
          </a:prstGeom>
          <a:solidFill>
            <a:srgbClr val="1F1140"/>
          </a:solidFill>
          <a:ln w="12700">
            <a:solidFill>
              <a:srgbClr val="FF2F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5720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9601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Parts, One System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548640" y="2377440"/>
            <a:ext cx="2880360" cy="1828800"/>
          </a:xfrm>
          <a:prstGeom prst="roundRect">
            <a:avLst>
              <a:gd name="adj" fmla="val 6000"/>
            </a:avLst>
          </a:prstGeom>
          <a:solidFill>
            <a:srgbClr val="170C2C"/>
          </a:solidFill>
          <a:ln w="22225">
            <a:solidFill>
              <a:srgbClr val="FF2F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542032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📱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85800" y="306324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</a:t>
            </a:r>
            <a:endParaRPr lang="en-US" sz="15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3547872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2F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controller.html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3822192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79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Gyroscope + touch pedals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63440" y="2377440"/>
            <a:ext cx="2880360" cy="1828800"/>
          </a:xfrm>
          <a:prstGeom prst="roundRect">
            <a:avLst>
              <a:gd name="adj" fmla="val 6000"/>
            </a:avLst>
          </a:prstGeom>
          <a:solidFill>
            <a:srgbClr val="170C2C"/>
          </a:solidFill>
          <a:ln w="22225">
            <a:solidFill>
              <a:srgbClr val="00E5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2542032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🖥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800600" y="306324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5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663440" y="3547872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server.py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46320" y="3822192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79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WebSocket bridge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778240" y="2377440"/>
            <a:ext cx="2880360" cy="1828800"/>
          </a:xfrm>
          <a:prstGeom prst="roundRect">
            <a:avLst>
              <a:gd name="adj" fmla="val 6000"/>
            </a:avLst>
          </a:prstGeom>
          <a:solidFill>
            <a:srgbClr val="170C2C"/>
          </a:solidFill>
          <a:ln w="22225">
            <a:solidFill>
              <a:srgbClr val="8A4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78240" y="2542032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🏎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8915400" y="306324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LAPTOP</a:t>
            </a:r>
            <a:endParaRPr lang="en-US" sz="15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778240" y="3547872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4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961120" y="3822192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79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Three.js 3D racer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474720" y="3291840"/>
            <a:ext cx="1143000" cy="0"/>
          </a:xfrm>
          <a:prstGeom prst="line">
            <a:avLst/>
          </a:prstGeom>
          <a:noFill/>
          <a:ln w="19050">
            <a:solidFill>
              <a:srgbClr val="A79AD1"/>
            </a:solidFill>
            <a:prstDash val="solid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3474720" y="2788920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79A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/ws/mobile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589520" y="3291840"/>
            <a:ext cx="1143000" cy="0"/>
          </a:xfrm>
          <a:prstGeom prst="line">
            <a:avLst/>
          </a:prstGeom>
          <a:noFill/>
          <a:ln w="19050">
            <a:solidFill>
              <a:srgbClr val="A79AD1"/>
            </a:solidFill>
            <a:prstDash val="solid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7589520" y="2788920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79A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/ws/laptop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22960" y="47091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backend never “understands” driving — it just relays whatever the phone sends, straight to the laptop.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2377440" y="5440680"/>
            <a:ext cx="7406640" cy="1051560"/>
          </a:xfrm>
          <a:prstGeom prst="roundRect">
            <a:avLst>
              <a:gd name="adj" fmla="val 8696"/>
            </a:avLst>
          </a:prstGeom>
          <a:solidFill>
            <a:srgbClr val="1F1140"/>
          </a:solidFill>
          <a:ln w="12700">
            <a:solidFill>
              <a:srgbClr val="1F114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651760" y="557784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Wi-Fi test: 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A79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 → backend uses local IP (192.168.x.x:8000)
</a:t>
            </a:r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Cross-network: 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A79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ngrok tunnels the backend to a public HTTPS link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4255" y="-1645920"/>
            <a:ext cx="3840480" cy="3840480"/>
          </a:xfrm>
          <a:prstGeom prst="ellipse">
            <a:avLst/>
          </a:prstGeom>
          <a:solidFill>
            <a:srgbClr val="FF2FD0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846320"/>
            <a:ext cx="3291840" cy="3291840"/>
          </a:xfrm>
          <a:prstGeom prst="ellipse">
            <a:avLst/>
          </a:prstGeom>
          <a:solidFill>
            <a:srgbClr val="00E5FF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457200"/>
            <a:ext cx="2468880" cy="347472"/>
          </a:xfrm>
          <a:prstGeom prst="roundRect">
            <a:avLst>
              <a:gd name="adj" fmla="val 50000"/>
            </a:avLst>
          </a:prstGeom>
          <a:solidFill>
            <a:srgbClr val="1F1140"/>
          </a:solidFill>
          <a:ln w="12700">
            <a:solidFill>
              <a:srgbClr val="FF2F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5720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 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9601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— server.py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02920" y="153619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· FastAPI · WebSocket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2194560"/>
            <a:ext cx="292608" cy="292608"/>
          </a:xfrm>
          <a:prstGeom prst="ellipse">
            <a:avLst/>
          </a:prstGeom>
          <a:solidFill>
            <a:srgbClr val="1F1140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1945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2148840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Opens two live connections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60120" y="2478024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79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/ws/laptop for the game, /ws/mobile for the controller — kept open the whole session.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3154680"/>
            <a:ext cx="292608" cy="292608"/>
          </a:xfrm>
          <a:prstGeom prst="ellipse">
            <a:avLst/>
          </a:prstGeom>
          <a:solidFill>
            <a:srgbClr val="1F1140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1546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60120" y="3108960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Remembers who's connected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60120" y="3438144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79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variables (laptop_client, mobile_client) track the active WebSocket objects.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4114800"/>
            <a:ext cx="292608" cy="292608"/>
          </a:xfrm>
          <a:prstGeom prst="ellipse">
            <a:avLst/>
          </a:prstGeom>
          <a:solidFill>
            <a:srgbClr val="1F1140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41148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60120" y="4069080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Relays phone data instantly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60120" y="4398264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79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Whatever JSON the phone sends (steer/throttle/brake) is forwarded straight to the laptop — no processing.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02920" y="5074920"/>
            <a:ext cx="292608" cy="292608"/>
          </a:xfrm>
          <a:prstGeom prst="ellipse">
            <a:avLst/>
          </a:prstGeom>
          <a:solidFill>
            <a:srgbClr val="1F1140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50749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60120" y="5029200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Also serves the web pages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60120" y="5358384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79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FileResponse hands out controller.html and index.html, so one ngrok tunnel covers everything.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452360" y="2148840"/>
            <a:ext cx="4251960" cy="3977640"/>
          </a:xfrm>
          <a:prstGeom prst="roundRect">
            <a:avLst>
              <a:gd name="adj" fmla="val 2299"/>
            </a:avLst>
          </a:prstGeom>
          <a:solidFill>
            <a:srgbClr val="0D0620"/>
          </a:solidFill>
          <a:ln w="12700">
            <a:solidFill>
              <a:srgbClr val="1F114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26680" y="2286000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FF2F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CORE BRIDGE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726680" y="2651760"/>
            <a:ext cx="37033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True: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data = await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websocket.receive_text()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laptop_client: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await laptop_client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.send_text(data)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726680" y="4434840"/>
            <a:ext cx="37033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A79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from phone → forward to laptop.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A79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That's the entire “brain” of the backend.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4255" y="-1645920"/>
            <a:ext cx="3840480" cy="3840480"/>
          </a:xfrm>
          <a:prstGeom prst="ellipse">
            <a:avLst/>
          </a:prstGeom>
          <a:solidFill>
            <a:srgbClr val="FF2FD0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846320"/>
            <a:ext cx="3291840" cy="3291840"/>
          </a:xfrm>
          <a:prstGeom prst="ellipse">
            <a:avLst/>
          </a:prstGeom>
          <a:solidFill>
            <a:srgbClr val="00E5FF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457200"/>
            <a:ext cx="2468880" cy="347472"/>
          </a:xfrm>
          <a:prstGeom prst="roundRect">
            <a:avLst>
              <a:gd name="adj" fmla="val 50000"/>
            </a:avLst>
          </a:prstGeom>
          <a:solidFill>
            <a:srgbClr val="1F1140"/>
          </a:solidFill>
          <a:ln w="12700">
            <a:solidFill>
              <a:srgbClr val="FF2F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5720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 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96012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Laptop Game — index.html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02920" y="153619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Three.js · WebGL 3D rendering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2148840"/>
            <a:ext cx="5212080" cy="1234440"/>
          </a:xfrm>
          <a:prstGeom prst="roundRect">
            <a:avLst>
              <a:gd name="adj" fmla="val 7407"/>
            </a:avLst>
          </a:prstGeom>
          <a:solidFill>
            <a:srgbClr val="170C2C"/>
          </a:solidFill>
          <a:ln w="12700">
            <a:solidFill>
              <a:srgbClr val="1F11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2368296"/>
            <a:ext cx="777240" cy="777240"/>
          </a:xfrm>
          <a:prstGeom prst="ellipse">
            <a:avLst/>
          </a:prstGeom>
          <a:solidFill>
            <a:srgbClr val="1F1140"/>
          </a:solidFill>
          <a:ln w="12700">
            <a:solidFill>
              <a:srgbClr val="8A4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368296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🎨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600200" y="2276856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Toon Shading + Ink Outlines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600200" y="2642616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79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MeshToonMaterial gives flat anime-style shading; a black inverted-hull clone behind each part draws the outline.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72200" y="2148840"/>
            <a:ext cx="5212080" cy="1234440"/>
          </a:xfrm>
          <a:prstGeom prst="roundRect">
            <a:avLst>
              <a:gd name="adj" fmla="val 7407"/>
            </a:avLst>
          </a:prstGeom>
          <a:solidFill>
            <a:srgbClr val="170C2C"/>
          </a:solidFill>
          <a:ln w="12700">
            <a:solidFill>
              <a:srgbClr val="1F11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55080" y="2368296"/>
            <a:ext cx="777240" cy="777240"/>
          </a:xfrm>
          <a:prstGeom prst="ellipse">
            <a:avLst/>
          </a:prstGeom>
          <a:solidFill>
            <a:srgbClr val="1F1140"/>
          </a:solidFill>
          <a:ln w="12700">
            <a:solidFill>
              <a:srgbClr val="8A4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5080" y="2368296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✨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7269480" y="2276856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Neon Bloom Post-Processing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7269480" y="2642616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79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UnrealBloomPass makes billboards, rims, and taillights genuinely glow instead of just being bright colors.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2920" y="3566160"/>
            <a:ext cx="5212080" cy="1234440"/>
          </a:xfrm>
          <a:prstGeom prst="roundRect">
            <a:avLst>
              <a:gd name="adj" fmla="val 7407"/>
            </a:avLst>
          </a:prstGeom>
          <a:solidFill>
            <a:srgbClr val="170C2C"/>
          </a:solidFill>
          <a:ln w="12700">
            <a:solidFill>
              <a:srgbClr val="1F114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5800" y="3785616"/>
            <a:ext cx="777240" cy="777240"/>
          </a:xfrm>
          <a:prstGeom prst="ellipse">
            <a:avLst/>
          </a:prstGeom>
          <a:solidFill>
            <a:srgbClr val="1F1140"/>
          </a:solidFill>
          <a:ln w="12700">
            <a:solidFill>
              <a:srgbClr val="8A4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3785616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🌀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600200" y="3694176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Particle Effects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600200" y="4059936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79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point-based systems for white drift smoke and blue nitro flame, spawned from the car's wheels and exhaust.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172200" y="3566160"/>
            <a:ext cx="5212080" cy="1234440"/>
          </a:xfrm>
          <a:prstGeom prst="roundRect">
            <a:avLst>
              <a:gd name="adj" fmla="val 7407"/>
            </a:avLst>
          </a:prstGeom>
          <a:solidFill>
            <a:srgbClr val="170C2C"/>
          </a:solidFill>
          <a:ln w="12700">
            <a:solidFill>
              <a:srgbClr val="1F114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55080" y="3785616"/>
            <a:ext cx="777240" cy="777240"/>
          </a:xfrm>
          <a:prstGeom prst="ellipse">
            <a:avLst/>
          </a:prstGeom>
          <a:solidFill>
            <a:srgbClr val="1F1140"/>
          </a:solidFill>
          <a:ln w="12700">
            <a:solidFill>
              <a:srgbClr val="8A4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55080" y="3785616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🛣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269480" y="3694176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Procedural Neon Track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7269480" y="4059936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79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winding closed-loop road built from a CatmullRom curve, lined with random neon billboards and towers.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02920" y="4983480"/>
            <a:ext cx="5212080" cy="1234440"/>
          </a:xfrm>
          <a:prstGeom prst="roundRect">
            <a:avLst>
              <a:gd name="adj" fmla="val 7407"/>
            </a:avLst>
          </a:prstGeom>
          <a:solidFill>
            <a:srgbClr val="170C2C"/>
          </a:solidFill>
          <a:ln w="12700">
            <a:solidFill>
              <a:srgbClr val="1F114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85800" y="5202936"/>
            <a:ext cx="777240" cy="777240"/>
          </a:xfrm>
          <a:prstGeom prst="ellipse">
            <a:avLst/>
          </a:prstGeom>
          <a:solidFill>
            <a:srgbClr val="1F1140"/>
          </a:solidFill>
          <a:ln w="12700">
            <a:solidFill>
              <a:srgbClr val="8A4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" y="5202936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🕹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1600200" y="5111496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Car Physics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1600200" y="5477256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79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Speed, steering angle, and drift detection — all driven by whatever steer/throttle/brake value arrives over WebSocket.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4255" y="-1645920"/>
            <a:ext cx="3840480" cy="3840480"/>
          </a:xfrm>
          <a:prstGeom prst="ellipse">
            <a:avLst/>
          </a:prstGeom>
          <a:solidFill>
            <a:srgbClr val="FF2FD0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846320"/>
            <a:ext cx="3291840" cy="3291840"/>
          </a:xfrm>
          <a:prstGeom prst="ellipse">
            <a:avLst/>
          </a:prstGeom>
          <a:solidFill>
            <a:srgbClr val="00E5FF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457200"/>
            <a:ext cx="2468880" cy="347472"/>
          </a:xfrm>
          <a:prstGeom prst="roundRect">
            <a:avLst>
              <a:gd name="adj" fmla="val 50000"/>
            </a:avLst>
          </a:prstGeom>
          <a:solidFill>
            <a:srgbClr val="1F1140"/>
          </a:solidFill>
          <a:ln w="12700">
            <a:solidFill>
              <a:srgbClr val="FF2F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5720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 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96012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Controller — controller.html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1508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DeviceOrientation API · Touch Events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286000"/>
            <a:ext cx="3017520" cy="3931920"/>
          </a:xfrm>
          <a:prstGeom prst="roundRect">
            <a:avLst>
              <a:gd name="adj" fmla="val 10606"/>
            </a:avLst>
          </a:prstGeom>
          <a:solidFill>
            <a:srgbClr val="170C2C"/>
          </a:solidFill>
          <a:ln w="25400">
            <a:solidFill>
              <a:srgbClr val="1F11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4672" y="2514600"/>
            <a:ext cx="2688336" cy="3474720"/>
          </a:xfrm>
          <a:prstGeom prst="roundRect">
            <a:avLst>
              <a:gd name="adj" fmla="val 5102"/>
            </a:avLst>
          </a:prstGeom>
          <a:solidFill>
            <a:srgbClr val="0D0620"/>
          </a:solidFill>
          <a:ln/>
        </p:spPr>
      </p:sp>
      <p:sp>
        <p:nvSpPr>
          <p:cNvPr id="10" name="Shape 8"/>
          <p:cNvSpPr/>
          <p:nvPr/>
        </p:nvSpPr>
        <p:spPr>
          <a:xfrm>
            <a:off x="1508760" y="3611880"/>
            <a:ext cx="1280160" cy="1280160"/>
          </a:xfrm>
          <a:prstGeom prst="ellipse">
            <a:avLst/>
          </a:prstGeom>
          <a:ln w="38100">
            <a:solidFill>
              <a:srgbClr val="00E5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11680" y="4114800"/>
            <a:ext cx="274320" cy="274320"/>
          </a:xfrm>
          <a:prstGeom prst="ellipse">
            <a:avLst/>
          </a:prstGeom>
          <a:solidFill>
            <a:srgbClr val="FF2FD0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3931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D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‹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697480" y="3931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D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960120" y="5212080"/>
            <a:ext cx="960120" cy="685800"/>
          </a:xfrm>
          <a:prstGeom prst="roundRect">
            <a:avLst>
              <a:gd name="adj" fmla="val 49333"/>
            </a:avLst>
          </a:prstGeom>
          <a:ln w="31750">
            <a:solidFill>
              <a:srgbClr val="FF2F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5212080"/>
            <a:ext cx="960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8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BRAKE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377440" y="5212080"/>
            <a:ext cx="960120" cy="685800"/>
          </a:xfrm>
          <a:prstGeom prst="roundRect">
            <a:avLst>
              <a:gd name="adj" fmla="val 49333"/>
            </a:avLst>
          </a:prstGeom>
          <a:ln w="31750">
            <a:solidFill>
              <a:srgbClr val="39FF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77440" y="5212080"/>
            <a:ext cx="960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FF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977640" y="228600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2F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Gyroscope Steering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3977640" y="2615184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79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Reads the phone's beta tilt angle; ±55° of tilt maps to full steering lock.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977640" y="306324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2F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Touch Pedals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3977640" y="3392424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79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Press-and-hold GAS / BRAKE circles send throttle and brake values continuously.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977640" y="384048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2F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Arrow-Button Backup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3977640" y="4169664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79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Left/right buttons override the gyroscope on demand — useful if the sensor misbehaves.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977640" y="461772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2F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Calibration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3977640" y="4946904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79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“Re-center Steering” captures the phone's current tilt as the new zero point.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3977640" y="539496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2F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25Hz Update Loop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3977640" y="5724144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79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Sends {steer, throttle, brake} as JSON over WebSocket every 40ms for smooth control.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4255" y="-1645920"/>
            <a:ext cx="3840480" cy="3840480"/>
          </a:xfrm>
          <a:prstGeom prst="ellipse">
            <a:avLst/>
          </a:prstGeom>
          <a:solidFill>
            <a:srgbClr val="FF2FD0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846320"/>
            <a:ext cx="3291840" cy="3291840"/>
          </a:xfrm>
          <a:prstGeom prst="ellipse">
            <a:avLst/>
          </a:prstGeom>
          <a:solidFill>
            <a:srgbClr val="00E5FF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457200"/>
            <a:ext cx="2468880" cy="347472"/>
          </a:xfrm>
          <a:prstGeom prst="roundRect">
            <a:avLst>
              <a:gd name="adj" fmla="val 50000"/>
            </a:avLst>
          </a:prstGeom>
          <a:solidFill>
            <a:srgbClr val="1F1140"/>
          </a:solidFill>
          <a:ln w="12700">
            <a:solidFill>
              <a:srgbClr val="FF2F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5720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FLOW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9601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Tilt To Turn — In ~40 Milliseconds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2743200"/>
            <a:ext cx="640080" cy="640080"/>
          </a:xfrm>
          <a:prstGeom prst="ellipse">
            <a:avLst/>
          </a:prstGeom>
          <a:solidFill>
            <a:srgbClr val="1F1140"/>
          </a:solidFill>
          <a:ln w="25400">
            <a:solidFill>
              <a:srgbClr val="00E5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743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325880" y="3063240"/>
            <a:ext cx="1417320" cy="0"/>
          </a:xfrm>
          <a:prstGeom prst="line">
            <a:avLst/>
          </a:prstGeom>
          <a:noFill/>
          <a:ln w="15875">
            <a:solidFill>
              <a:srgbClr val="A79AD1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137160" y="356616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Tilt the phone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" y="406908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A79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deviceorientation event fires with a beta angle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88920" y="2743200"/>
            <a:ext cx="640080" cy="640080"/>
          </a:xfrm>
          <a:prstGeom prst="ellipse">
            <a:avLst/>
          </a:prstGeom>
          <a:solidFill>
            <a:srgbClr val="1F1140"/>
          </a:solidFill>
          <a:ln w="25400">
            <a:solidFill>
              <a:srgbClr val="00E5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88920" y="2743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3474720" y="3063240"/>
            <a:ext cx="1417320" cy="0"/>
          </a:xfrm>
          <a:prstGeom prst="line">
            <a:avLst/>
          </a:prstGeom>
          <a:noFill/>
          <a:ln w="15875">
            <a:solidFill>
              <a:srgbClr val="A79AD1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2286000" y="356616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JSON packet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194560" y="406908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A79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{"steer": 0.4, "throttle": 1, "brake": 0}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937760" y="2743200"/>
            <a:ext cx="640080" cy="640080"/>
          </a:xfrm>
          <a:prstGeom prst="ellipse">
            <a:avLst/>
          </a:prstGeom>
          <a:solidFill>
            <a:srgbClr val="1F1140"/>
          </a:solidFill>
          <a:ln w="25400">
            <a:solidFill>
              <a:srgbClr val="00E5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2743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623560" y="3063240"/>
            <a:ext cx="1417320" cy="0"/>
          </a:xfrm>
          <a:prstGeom prst="line">
            <a:avLst/>
          </a:prstGeom>
          <a:noFill/>
          <a:ln w="15875">
            <a:solidFill>
              <a:srgbClr val="A79AD1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4434840" y="356616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 over WebSocket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343400" y="406908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A79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controller.html → /ws/mobile, ~25 times a second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086600" y="2743200"/>
            <a:ext cx="640080" cy="640080"/>
          </a:xfrm>
          <a:prstGeom prst="ellipse">
            <a:avLst/>
          </a:prstGeom>
          <a:solidFill>
            <a:srgbClr val="1F1140"/>
          </a:solidFill>
          <a:ln w="25400">
            <a:solidFill>
              <a:srgbClr val="00E5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86600" y="2743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7772400" y="3063240"/>
            <a:ext cx="1417320" cy="0"/>
          </a:xfrm>
          <a:prstGeom prst="line">
            <a:avLst/>
          </a:prstGeom>
          <a:noFill/>
          <a:ln w="15875">
            <a:solidFill>
              <a:srgbClr val="A79AD1"/>
            </a:solidFill>
            <a:prstDash val="solid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6583680" y="356616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relays it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492240" y="406908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A79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server.py forwards the exact packet to /ws/laptop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235440" y="2743200"/>
            <a:ext cx="640080" cy="640080"/>
          </a:xfrm>
          <a:prstGeom prst="ellipse">
            <a:avLst/>
          </a:prstGeom>
          <a:solidFill>
            <a:srgbClr val="1F1140"/>
          </a:solidFill>
          <a:ln w="25400">
            <a:solidFill>
              <a:srgbClr val="FF2FD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235440" y="2743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2F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8732520" y="356616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updates physics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8641080" y="406908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A79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index.html adjusts heading, speed, wheel spin, camera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1645920" y="5212080"/>
            <a:ext cx="8869680" cy="1051560"/>
          </a:xfrm>
          <a:prstGeom prst="roundRect">
            <a:avLst>
              <a:gd name="adj" fmla="val 8696"/>
            </a:avLst>
          </a:prstGeom>
          <a:solidFill>
            <a:srgbClr val="170C2C"/>
          </a:solidFill>
          <a:ln w="12700">
            <a:solidFill>
              <a:srgbClr val="1F114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965960" y="53492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backend never inspects steer/throttle/brake values — it just moves bytes. All driving logic lives in the browser's JavaScript.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4255" y="-1645920"/>
            <a:ext cx="3840480" cy="3840480"/>
          </a:xfrm>
          <a:prstGeom prst="ellipse">
            <a:avLst/>
          </a:prstGeom>
          <a:solidFill>
            <a:srgbClr val="FF2FD0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846320"/>
            <a:ext cx="3291840" cy="3291840"/>
          </a:xfrm>
          <a:prstGeom prst="ellipse">
            <a:avLst/>
          </a:prstGeom>
          <a:solidFill>
            <a:srgbClr val="00E5FF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457200"/>
            <a:ext cx="2468880" cy="347472"/>
          </a:xfrm>
          <a:prstGeom prst="roundRect">
            <a:avLst>
              <a:gd name="adj" fmla="val 50000"/>
            </a:avLst>
          </a:prstGeom>
          <a:solidFill>
            <a:srgbClr val="1F1140"/>
          </a:solidFill>
          <a:ln w="12700">
            <a:solidFill>
              <a:srgbClr val="FF2F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5720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 DIRECTION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96012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Anime Cel-Shading Meets Cyberpunk Neon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1965960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170C2C"/>
          </a:solidFill>
          <a:ln w="19050">
            <a:solidFill>
              <a:srgbClr val="FF2FD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965960"/>
            <a:ext cx="73152" cy="1920240"/>
          </a:xfrm>
          <a:prstGeom prst="rect">
            <a:avLst/>
          </a:prstGeom>
          <a:ln/>
        </p:spPr>
      </p:sp>
      <p:sp>
        <p:nvSpPr>
          <p:cNvPr id="9" name="Text 7"/>
          <p:cNvSpPr/>
          <p:nvPr/>
        </p:nvSpPr>
        <p:spPr>
          <a:xfrm>
            <a:off x="777240" y="219456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2F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Toon Material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77240" y="2651760"/>
            <a:ext cx="2971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79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4-step gradient map flattens lighting into hard bands instead of smooth PBR shading.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43400" y="1965960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170C2C"/>
          </a:solidFill>
          <a:ln w="19050">
            <a:solidFill>
              <a:srgbClr val="00E5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43400" y="1965960"/>
            <a:ext cx="73152" cy="1920240"/>
          </a:xfrm>
          <a:prstGeom prst="rect">
            <a:avLst/>
          </a:prstGeom>
          <a:ln/>
        </p:spPr>
      </p:sp>
      <p:sp>
        <p:nvSpPr>
          <p:cNvPr id="13" name="Text 11"/>
          <p:cNvSpPr/>
          <p:nvPr/>
        </p:nvSpPr>
        <p:spPr>
          <a:xfrm>
            <a:off x="4617720" y="219456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Inverted-Hull Outlines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617720" y="2651760"/>
            <a:ext cx="2971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79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part is cloned, scaled ~6% larger, flipped inside-out, and painted pure black.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83880" y="1965960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170C2C"/>
          </a:solidFill>
          <a:ln w="19050">
            <a:solidFill>
              <a:srgbClr val="8A4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83880" y="1965960"/>
            <a:ext cx="73152" cy="1920240"/>
          </a:xfrm>
          <a:prstGeom prst="rect">
            <a:avLst/>
          </a:prstGeom>
          <a:ln/>
        </p:spPr>
      </p:sp>
      <p:sp>
        <p:nvSpPr>
          <p:cNvPr id="17" name="Text 15"/>
          <p:cNvSpPr/>
          <p:nvPr/>
        </p:nvSpPr>
        <p:spPr>
          <a:xfrm>
            <a:off x="8458200" y="219456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4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Bloom Glow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458200" y="2651760"/>
            <a:ext cx="2971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79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UnrealBloomPass makes bright neon colors bleed light — the signature cyberpunk look.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02920" y="4206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 Palette Used In The Scene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02920" y="4709160"/>
            <a:ext cx="1188720" cy="1188720"/>
          </a:xfrm>
          <a:prstGeom prst="roundRect">
            <a:avLst>
              <a:gd name="adj" fmla="val 9231"/>
            </a:avLst>
          </a:prstGeom>
          <a:solidFill>
            <a:srgbClr val="FF2FD0"/>
          </a:solidFill>
          <a:ln w="15875">
            <a:solidFill>
              <a:srgbClr val="1F114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59436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79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Neon Pink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920240" y="4709160"/>
            <a:ext cx="1188720" cy="1188720"/>
          </a:xfrm>
          <a:prstGeom prst="roundRect">
            <a:avLst>
              <a:gd name="adj" fmla="val 9231"/>
            </a:avLst>
          </a:prstGeom>
          <a:solidFill>
            <a:srgbClr val="00E5FF"/>
          </a:solidFill>
          <a:ln w="15875">
            <a:solidFill>
              <a:srgbClr val="1F114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783080" y="59436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79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Neon Cyan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337560" y="4709160"/>
            <a:ext cx="1188720" cy="1188720"/>
          </a:xfrm>
          <a:prstGeom prst="roundRect">
            <a:avLst>
              <a:gd name="adj" fmla="val 9231"/>
            </a:avLst>
          </a:prstGeom>
          <a:solidFill>
            <a:srgbClr val="8A4FFF"/>
          </a:solidFill>
          <a:ln w="15875">
            <a:solidFill>
              <a:srgbClr val="1F114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0" y="59436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79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Purple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54880" y="4709160"/>
            <a:ext cx="1188720" cy="1188720"/>
          </a:xfrm>
          <a:prstGeom prst="roundRect">
            <a:avLst>
              <a:gd name="adj" fmla="val 9231"/>
            </a:avLst>
          </a:prstGeom>
          <a:solidFill>
            <a:srgbClr val="0A0614"/>
          </a:solidFill>
          <a:ln w="15875">
            <a:solidFill>
              <a:srgbClr val="1F114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17720" y="59436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79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Night BG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498080" y="4206240"/>
            <a:ext cx="4206240" cy="2057400"/>
          </a:xfrm>
          <a:prstGeom prst="roundRect">
            <a:avLst>
              <a:gd name="adj" fmla="val 5333"/>
            </a:avLst>
          </a:prstGeom>
          <a:solidFill>
            <a:srgbClr val="170C2C"/>
          </a:solidFill>
          <a:ln w="12700">
            <a:solidFill>
              <a:srgbClr val="1F11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0" y="43891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it's used: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772400" y="475488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›"/>
            </a:pPr>
            <a:r>
              <a:rPr lang="en-US" sz="1150" dirty="0">
                <a:solidFill>
                  <a:srgbClr val="A79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Billboards &amp; towers along the track
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A79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Wheel rims &amp; taillights
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A79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Drift smoke + nitro exhaust flame
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A79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panels on both screens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4255" y="-1645920"/>
            <a:ext cx="3840480" cy="3840480"/>
          </a:xfrm>
          <a:prstGeom prst="ellipse">
            <a:avLst/>
          </a:prstGeom>
          <a:solidFill>
            <a:srgbClr val="FF2FD0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846320"/>
            <a:ext cx="3291840" cy="3291840"/>
          </a:xfrm>
          <a:prstGeom prst="ellipse">
            <a:avLst/>
          </a:prstGeom>
          <a:solidFill>
            <a:srgbClr val="00E5FF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457200"/>
            <a:ext cx="2468880" cy="347472"/>
          </a:xfrm>
          <a:prstGeom prst="roundRect">
            <a:avLst>
              <a:gd name="adj" fmla="val 50000"/>
            </a:avLst>
          </a:prstGeom>
          <a:solidFill>
            <a:srgbClr val="1F1140"/>
          </a:solidFill>
          <a:ln w="12700">
            <a:solidFill>
              <a:srgbClr val="FF2F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5720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9601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Getting It Running: 2 Terminals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640080" y="2103120"/>
            <a:ext cx="5120640" cy="3931920"/>
          </a:xfrm>
          <a:prstGeom prst="roundRect">
            <a:avLst>
              <a:gd name="adj" fmla="val 2326"/>
            </a:avLst>
          </a:prstGeom>
          <a:solidFill>
            <a:srgbClr val="0D0620"/>
          </a:solidFill>
          <a:ln w="12700">
            <a:solidFill>
              <a:srgbClr val="1F11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103120"/>
            <a:ext cx="5120640" cy="457200"/>
          </a:xfrm>
          <a:prstGeom prst="rect">
            <a:avLst/>
          </a:prstGeom>
          <a:solidFill>
            <a:srgbClr val="1F1140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10312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TERMINAL 1 — Backend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27889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2F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PS&gt; </a:t>
            </a:r>
            <a:pPr indent="0" marL="0">
              <a:buNone/>
            </a:pPr>
            <a:r>
              <a:rPr lang="en-US" sz="1300" dirty="0">
                <a:solidFill>
                  <a:srgbClr val="F4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server.py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" y="498348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A79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Starts the FastAPI server on port 8000. Also serves controller.html and index.html directly, so nothing else needs to run this file.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35040" y="2103120"/>
            <a:ext cx="5120640" cy="3931920"/>
          </a:xfrm>
          <a:prstGeom prst="roundRect">
            <a:avLst>
              <a:gd name="adj" fmla="val 2326"/>
            </a:avLst>
          </a:prstGeom>
          <a:solidFill>
            <a:srgbClr val="0D0620"/>
          </a:solidFill>
          <a:ln w="12700">
            <a:solidFill>
              <a:srgbClr val="1F114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35040" y="2103120"/>
            <a:ext cx="5120640" cy="457200"/>
          </a:xfrm>
          <a:prstGeom prst="rect">
            <a:avLst/>
          </a:prstGeom>
          <a:solidFill>
            <a:srgbClr val="1F1140"/>
          </a:solidFill>
          <a:ln/>
        </p:spPr>
      </p:sp>
      <p:sp>
        <p:nvSpPr>
          <p:cNvPr id="14" name="Text 12"/>
          <p:cNvSpPr/>
          <p:nvPr/>
        </p:nvSpPr>
        <p:spPr>
          <a:xfrm>
            <a:off x="6263640" y="210312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TERMINAL 2 — ngrok Tunnel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63640" y="27889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2F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PS&gt; </a:t>
            </a:r>
            <a:pPr indent="0" marL="0">
              <a:buNone/>
            </a:pPr>
            <a:r>
              <a:rPr lang="en-US" sz="1300" dirty="0">
                <a:solidFill>
                  <a:srgbClr val="F4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.\ngrok.exe http 8000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63640" y="498348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A79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Gives a public https:// link so the phone can reach the backend from anywhere — no shared Wi-Fi required.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737360" y="6263640"/>
            <a:ext cx="8686800" cy="0"/>
          </a:xfrm>
          <a:prstGeom prst="roundRect">
            <a:avLst/>
          </a:prstGeom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4255" y="-1645920"/>
            <a:ext cx="3840480" cy="3840480"/>
          </a:xfrm>
          <a:prstGeom prst="ellipse">
            <a:avLst/>
          </a:prstGeom>
          <a:solidFill>
            <a:srgbClr val="FF2FD0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846320"/>
            <a:ext cx="3291840" cy="3291840"/>
          </a:xfrm>
          <a:prstGeom prst="ellipse">
            <a:avLst/>
          </a:prstGeom>
          <a:solidFill>
            <a:srgbClr val="00E5FF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457200"/>
            <a:ext cx="2468880" cy="347472"/>
          </a:xfrm>
          <a:prstGeom prst="roundRect">
            <a:avLst>
              <a:gd name="adj" fmla="val 50000"/>
            </a:avLst>
          </a:prstGeom>
          <a:solidFill>
            <a:srgbClr val="1F1140"/>
          </a:solidFill>
          <a:ln w="12700">
            <a:solidFill>
              <a:srgbClr val="FF2F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5720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DEBUGGING JOURNEY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9601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Problems, Real Fixes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02920" y="1874520"/>
            <a:ext cx="11201400" cy="960120"/>
          </a:xfrm>
          <a:prstGeom prst="roundRect">
            <a:avLst>
              <a:gd name="adj" fmla="val 9524"/>
            </a:avLst>
          </a:prstGeom>
          <a:solidFill>
            <a:srgbClr val="170C2C"/>
          </a:solidFill>
          <a:ln w="12700">
            <a:solidFill>
              <a:srgbClr val="1F11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2130552"/>
            <a:ext cx="457200" cy="457200"/>
          </a:xfrm>
          <a:prstGeom prst="ellipse">
            <a:avLst/>
          </a:prstGeom>
          <a:solidFill>
            <a:srgbClr val="1F1140"/>
          </a:solidFill>
          <a:ln w="15875">
            <a:solidFill>
              <a:srgbClr val="FF2F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1305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2F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17320" y="1984248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 stuck on “Reconnecting…”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806440" y="1965960"/>
            <a:ext cx="5669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9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controller was loaded over HTTPS (ngrok), but tried an insecure ws:// link — browsers block that. Fixed by tunneling the backend too, so everything uses wss://.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2971800"/>
            <a:ext cx="11201400" cy="960120"/>
          </a:xfrm>
          <a:prstGeom prst="roundRect">
            <a:avLst>
              <a:gd name="adj" fmla="val 9524"/>
            </a:avLst>
          </a:prstGeom>
          <a:solidFill>
            <a:srgbClr val="170C2C"/>
          </a:solidFill>
          <a:ln w="12700">
            <a:solidFill>
              <a:srgbClr val="1F114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3227832"/>
            <a:ext cx="457200" cy="457200"/>
          </a:xfrm>
          <a:prstGeom prst="ellipse">
            <a:avLst/>
          </a:prstGeom>
          <a:solidFill>
            <a:srgbClr val="1F1140"/>
          </a:solidFill>
          <a:ln w="15875">
            <a:solidFill>
              <a:srgbClr val="FF2F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2278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2F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17320" y="3081528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Keyboard fallback stopped working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806440" y="3063240"/>
            <a:ext cx="5669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9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said “if WebSocket connected, ignore the keyboard” — even with no phone data coming in. Fixed by always combining both input sources.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4069080"/>
            <a:ext cx="11201400" cy="960120"/>
          </a:xfrm>
          <a:prstGeom prst="roundRect">
            <a:avLst>
              <a:gd name="adj" fmla="val 9524"/>
            </a:avLst>
          </a:prstGeom>
          <a:solidFill>
            <a:srgbClr val="170C2C"/>
          </a:solidFill>
          <a:ln w="12700">
            <a:solidFill>
              <a:srgbClr val="1F114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" y="4325112"/>
            <a:ext cx="457200" cy="457200"/>
          </a:xfrm>
          <a:prstGeom prst="ellipse">
            <a:avLst/>
          </a:prstGeom>
          <a:solidFill>
            <a:srgbClr val="1F1140"/>
          </a:solidFill>
          <a:ln w="15875">
            <a:solidFill>
              <a:srgbClr val="FF2F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43251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2F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17320" y="4178808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 address kept changing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6440" y="4160520"/>
            <a:ext cx="5669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9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Switching Wi-Fi networks changes the laptop's local IP. Solution: re-run ipconfig and update the host box whenever the network changes.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" y="5166360"/>
            <a:ext cx="11201400" cy="960120"/>
          </a:xfrm>
          <a:prstGeom prst="roundRect">
            <a:avLst>
              <a:gd name="adj" fmla="val 9524"/>
            </a:avLst>
          </a:prstGeom>
          <a:solidFill>
            <a:srgbClr val="170C2C"/>
          </a:solidFill>
          <a:ln w="12700">
            <a:solidFill>
              <a:srgbClr val="1F114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1520" y="5422392"/>
            <a:ext cx="457200" cy="457200"/>
          </a:xfrm>
          <a:prstGeom prst="ellipse">
            <a:avLst/>
          </a:prstGeom>
          <a:solidFill>
            <a:srgbClr val="1F1140"/>
          </a:solidFill>
          <a:ln w="15875">
            <a:solidFill>
              <a:srgbClr val="FF2FD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54223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2F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417320" y="5276088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Steering direction felt backwards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806440" y="5257800"/>
            <a:ext cx="5669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9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 orientation sign varies by device. Added one DIRECTION_SIGN constant so it's a single flip, not a rewrite.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4255" y="-1645920"/>
            <a:ext cx="3840480" cy="3840480"/>
          </a:xfrm>
          <a:prstGeom prst="ellipse">
            <a:avLst/>
          </a:prstGeom>
          <a:solidFill>
            <a:srgbClr val="FF2FD0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846320"/>
            <a:ext cx="3291840" cy="3291840"/>
          </a:xfrm>
          <a:prstGeom prst="ellipse">
            <a:avLst/>
          </a:prstGeom>
          <a:solidFill>
            <a:srgbClr val="00E5FF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286000"/>
            <a:ext cx="1072865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4815688" y="3246120"/>
            <a:ext cx="2560320" cy="4572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474720"/>
            <a:ext cx="10728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A79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about NEON DRIFT?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6035040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spc="100" kern="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 ·  FastAPI  ·  WebSocket  ·  Three.js  ·  Toon Shading  ·  Bloom  ·  DeviceOrientation API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2026-07-22T03:52:59Z</dcterms:created>
  <dcterms:modified xsi:type="dcterms:W3CDTF">2026-07-22T03:52:59Z</dcterms:modified>
</cp:coreProperties>
</file>